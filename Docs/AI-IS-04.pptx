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8" r:id="rId8"/>
    <p:sldId id="269" r:id="rId9"/>
    <p:sldId id="270" r:id="rId10"/>
    <p:sldId id="261" r:id="rId11"/>
    <p:sldId id="264" r:id="rId12"/>
    <p:sldId id="265" r:id="rId13"/>
    <p:sldId id="267" r:id="rId14"/>
  </p:sldIdLst>
  <p:sldSz cx="18288000" cy="10287000"/>
  <p:notesSz cx="6858000" cy="9144000"/>
  <p:embeddedFontLst>
    <p:embeddedFont>
      <p:font typeface="Times New Roman MT Bold" panose="020B0604020202020204" charset="0"/>
      <p:regular r:id="rId15"/>
    </p:embeddedFont>
    <p:embeddedFont>
      <p:font typeface="TT Fors Bold" panose="020B0604020202020204" charset="0"/>
      <p:regular r:id="rId16"/>
    </p:embeddedFont>
    <p:embeddedFont>
      <p:font typeface="TT Fors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DFBB9-2D3B-8899-D717-2B74797E8A1E}" v="1" dt="2026-01-31T09:12:59.276"/>
    <p1510:client id="{BCB2E602-B84B-C34C-0C55-3A81F894C246}" v="365" dt="2026-01-31T09:07:20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CB2E602-B84B-C34C-0C55-3A81F894C246}"/>
    <pc:docChg chg="addSld delSld modSld sldOrd">
      <pc:chgData name="Guest User" userId="" providerId="Windows Live" clId="Web-{BCB2E602-B84B-C34C-0C55-3A81F894C246}" dt="2026-01-31T09:07:20.108" v="269" actId="20577"/>
      <pc:docMkLst>
        <pc:docMk/>
      </pc:docMkLst>
      <pc:sldChg chg="del">
        <pc:chgData name="Guest User" userId="" providerId="Windows Live" clId="Web-{BCB2E602-B84B-C34C-0C55-3A81F894C246}" dt="2026-01-31T09:02:42.009" v="187"/>
        <pc:sldMkLst>
          <pc:docMk/>
          <pc:sldMk cId="0" sldId="260"/>
        </pc:sldMkLst>
      </pc:sldChg>
      <pc:sldChg chg="addSp delSp modSp">
        <pc:chgData name="Guest User" userId="" providerId="Windows Live" clId="Web-{BCB2E602-B84B-C34C-0C55-3A81F894C246}" dt="2026-01-31T09:06:20.248" v="243" actId="20577"/>
        <pc:sldMkLst>
          <pc:docMk/>
          <pc:sldMk cId="0" sldId="261"/>
        </pc:sldMkLst>
        <pc:spChg chg="add mod">
          <ac:chgData name="Guest User" userId="" providerId="Windows Live" clId="Web-{BCB2E602-B84B-C34C-0C55-3A81F894C246}" dt="2026-01-31T09:06:20.248" v="243" actId="20577"/>
          <ac:spMkLst>
            <pc:docMk/>
            <pc:sldMk cId="0" sldId="261"/>
            <ac:spMk id="2" creationId="{7CCACE5E-7118-F3DA-97B3-80511C456638}"/>
          </ac:spMkLst>
        </pc:spChg>
        <pc:spChg chg="add del">
          <ac:chgData name="Guest User" userId="" providerId="Windows Live" clId="Web-{BCB2E602-B84B-C34C-0C55-3A81F894C246}" dt="2026-01-31T08:45:52.594" v="30"/>
          <ac:spMkLst>
            <pc:docMk/>
            <pc:sldMk cId="0" sldId="261"/>
            <ac:spMk id="3" creationId="{431BDA3A-12CF-E16A-D4DF-AF3B931D4D20}"/>
          </ac:spMkLst>
        </pc:spChg>
        <pc:spChg chg="del mod">
          <ac:chgData name="Guest User" userId="" providerId="Windows Live" clId="Web-{BCB2E602-B84B-C34C-0C55-3A81F894C246}" dt="2026-01-31T08:42:19.149" v="2"/>
          <ac:spMkLst>
            <pc:docMk/>
            <pc:sldMk cId="0" sldId="261"/>
            <ac:spMk id="4" creationId="{00000000-0000-0000-0000-000000000000}"/>
          </ac:spMkLst>
        </pc:spChg>
        <pc:spChg chg="mod">
          <ac:chgData name="Guest User" userId="" providerId="Windows Live" clId="Web-{BCB2E602-B84B-C34C-0C55-3A81F894C246}" dt="2026-01-31T08:55:58.948" v="167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Guest User" userId="" providerId="Windows Live" clId="Web-{BCB2E602-B84B-C34C-0C55-3A81F894C246}" dt="2026-01-31T08:52:00.604" v="11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Guest User" userId="" providerId="Windows Live" clId="Web-{BCB2E602-B84B-C34C-0C55-3A81F894C246}" dt="2026-01-31T08:48:20.113" v="59" actId="14100"/>
          <ac:spMkLst>
            <pc:docMk/>
            <pc:sldMk cId="0" sldId="261"/>
            <ac:spMk id="13" creationId="{899CCA6E-0516-C37C-6140-2F6A721C5BEA}"/>
          </ac:spMkLst>
        </pc:spChg>
        <pc:spChg chg="mod">
          <ac:chgData name="Guest User" userId="" providerId="Windows Live" clId="Web-{BCB2E602-B84B-C34C-0C55-3A81F894C246}" dt="2026-01-31T08:48:14.238" v="58" actId="14100"/>
          <ac:spMkLst>
            <pc:docMk/>
            <pc:sldMk cId="0" sldId="261"/>
            <ac:spMk id="14" creationId="{D353DA04-807E-4514-B789-805370A85F9B}"/>
          </ac:spMkLst>
        </pc:spChg>
        <pc:spChg chg="add del mod">
          <ac:chgData name="Guest User" userId="" providerId="Windows Live" clId="Web-{BCB2E602-B84B-C34C-0C55-3A81F894C246}" dt="2026-01-31T08:51:34.867" v="108"/>
          <ac:spMkLst>
            <pc:docMk/>
            <pc:sldMk cId="0" sldId="261"/>
            <ac:spMk id="15" creationId="{881EA626-E4FF-E225-32B5-1DFEDED0B295}"/>
          </ac:spMkLst>
        </pc:spChg>
        <pc:spChg chg="add del mod">
          <ac:chgData name="Guest User" userId="" providerId="Windows Live" clId="Web-{BCB2E602-B84B-C34C-0C55-3A81F894C246}" dt="2026-01-31T08:51:30.976" v="104"/>
          <ac:spMkLst>
            <pc:docMk/>
            <pc:sldMk cId="0" sldId="261"/>
            <ac:spMk id="16" creationId="{82C50CA1-C7F2-FB52-206E-55D2638B0E7D}"/>
          </ac:spMkLst>
        </pc:spChg>
      </pc:sldChg>
      <pc:sldChg chg="delSp modSp add replId">
        <pc:chgData name="Guest User" userId="" providerId="Windows Live" clId="Web-{BCB2E602-B84B-C34C-0C55-3A81F894C246}" dt="2026-01-31T09:06:34.404" v="247" actId="20577"/>
        <pc:sldMkLst>
          <pc:docMk/>
          <pc:sldMk cId="1532266921" sldId="264"/>
        </pc:sldMkLst>
        <pc:spChg chg="del mod">
          <ac:chgData name="Guest User" userId="" providerId="Windows Live" clId="Web-{BCB2E602-B84B-C34C-0C55-3A81F894C246}" dt="2026-01-31T08:50:23.005" v="91"/>
          <ac:spMkLst>
            <pc:docMk/>
            <pc:sldMk cId="1532266921" sldId="264"/>
            <ac:spMk id="2" creationId="{52F7A4DD-B0A1-2305-7503-4AECD0F718AD}"/>
          </ac:spMkLst>
        </pc:spChg>
        <pc:spChg chg="del mod">
          <ac:chgData name="Guest User" userId="" providerId="Windows Live" clId="Web-{BCB2E602-B84B-C34C-0C55-3A81F894C246}" dt="2026-01-31T08:50:29.912" v="94"/>
          <ac:spMkLst>
            <pc:docMk/>
            <pc:sldMk cId="1532266921" sldId="264"/>
            <ac:spMk id="5" creationId="{C10EC861-49A5-7616-8403-0FEC05158BC5}"/>
          </ac:spMkLst>
        </pc:spChg>
        <pc:spChg chg="mod">
          <ac:chgData name="Guest User" userId="" providerId="Windows Live" clId="Web-{BCB2E602-B84B-C34C-0C55-3A81F894C246}" dt="2026-01-31T08:55:53.886" v="166" actId="20577"/>
          <ac:spMkLst>
            <pc:docMk/>
            <pc:sldMk cId="1532266921" sldId="264"/>
            <ac:spMk id="15" creationId="{AD3CFB02-AF08-9031-D85C-B0ECE134D09D}"/>
          </ac:spMkLst>
        </pc:spChg>
        <pc:spChg chg="mod">
          <ac:chgData name="Guest User" userId="" providerId="Windows Live" clId="Web-{BCB2E602-B84B-C34C-0C55-3A81F894C246}" dt="2026-01-31T09:06:34.404" v="247" actId="20577"/>
          <ac:spMkLst>
            <pc:docMk/>
            <pc:sldMk cId="1532266921" sldId="264"/>
            <ac:spMk id="16" creationId="{BBF1AA57-CADB-0C76-6589-E30C10DA1BB5}"/>
          </ac:spMkLst>
        </pc:spChg>
      </pc:sldChg>
      <pc:sldChg chg="addSp delSp modSp add replId">
        <pc:chgData name="Guest User" userId="" providerId="Windows Live" clId="Web-{BCB2E602-B84B-C34C-0C55-3A81F894C246}" dt="2026-01-31T09:06:42.561" v="251" actId="20577"/>
        <pc:sldMkLst>
          <pc:docMk/>
          <pc:sldMk cId="3904610095" sldId="265"/>
        </pc:sldMkLst>
        <pc:spChg chg="add mod">
          <ac:chgData name="Guest User" userId="" providerId="Windows Live" clId="Web-{BCB2E602-B84B-C34C-0C55-3A81F894C246}" dt="2026-01-31T09:06:42.561" v="251" actId="20577"/>
          <ac:spMkLst>
            <pc:docMk/>
            <pc:sldMk cId="3904610095" sldId="265"/>
            <ac:spMk id="2" creationId="{E0C92891-DA9E-C043-686D-7D60352A8A96}"/>
          </ac:spMkLst>
        </pc:spChg>
        <pc:spChg chg="mod">
          <ac:chgData name="Guest User" userId="" providerId="Windows Live" clId="Web-{BCB2E602-B84B-C34C-0C55-3A81F894C246}" dt="2026-01-31T08:55:48.260" v="165" actId="20577"/>
          <ac:spMkLst>
            <pc:docMk/>
            <pc:sldMk cId="3904610095" sldId="265"/>
            <ac:spMk id="15" creationId="{5D5303F1-2276-308F-69BA-A07D71ACCD38}"/>
          </ac:spMkLst>
        </pc:spChg>
        <pc:spChg chg="del mod">
          <ac:chgData name="Guest User" userId="" providerId="Windows Live" clId="Web-{BCB2E602-B84B-C34C-0C55-3A81F894C246}" dt="2026-01-31T08:52:20.027" v="119"/>
          <ac:spMkLst>
            <pc:docMk/>
            <pc:sldMk cId="3904610095" sldId="265"/>
            <ac:spMk id="16" creationId="{49905395-E0B7-D056-9A12-D55A11843032}"/>
          </ac:spMkLst>
        </pc:spChg>
      </pc:sldChg>
      <pc:sldChg chg="new del">
        <pc:chgData name="Guest User" userId="" providerId="Windows Live" clId="Web-{BCB2E602-B84B-C34C-0C55-3A81F894C246}" dt="2026-01-31T08:53:53.409" v="133"/>
        <pc:sldMkLst>
          <pc:docMk/>
          <pc:sldMk cId="3466337982" sldId="266"/>
        </pc:sldMkLst>
      </pc:sldChg>
      <pc:sldChg chg="addSp delSp modSp add replId">
        <pc:chgData name="Guest User" userId="" providerId="Windows Live" clId="Web-{BCB2E602-B84B-C34C-0C55-3A81F894C246}" dt="2026-01-31T09:06:46.248" v="253" actId="20577"/>
        <pc:sldMkLst>
          <pc:docMk/>
          <pc:sldMk cId="1944642428" sldId="267"/>
        </pc:sldMkLst>
        <pc:spChg chg="del mod">
          <ac:chgData name="Guest User" userId="" providerId="Windows Live" clId="Web-{BCB2E602-B84B-C34C-0C55-3A81F894C246}" dt="2026-01-31T08:54:13.191" v="141"/>
          <ac:spMkLst>
            <pc:docMk/>
            <pc:sldMk cId="1944642428" sldId="267"/>
            <ac:spMk id="2" creationId="{1C146D64-3204-D05A-C35D-D815B626C112}"/>
          </ac:spMkLst>
        </pc:spChg>
        <pc:spChg chg="add mod">
          <ac:chgData name="Guest User" userId="" providerId="Windows Live" clId="Web-{BCB2E602-B84B-C34C-0C55-3A81F894C246}" dt="2026-01-31T09:06:46.248" v="253" actId="20577"/>
          <ac:spMkLst>
            <pc:docMk/>
            <pc:sldMk cId="1944642428" sldId="267"/>
            <ac:spMk id="3" creationId="{061BC6AB-B69B-9487-8173-C59A9459B227}"/>
          </ac:spMkLst>
        </pc:spChg>
        <pc:spChg chg="add del mod">
          <ac:chgData name="Guest User" userId="" providerId="Windows Live" clId="Web-{BCB2E602-B84B-C34C-0C55-3A81F894C246}" dt="2026-01-31T08:55:37.885" v="164" actId="20577"/>
          <ac:spMkLst>
            <pc:docMk/>
            <pc:sldMk cId="1944642428" sldId="267"/>
            <ac:spMk id="15" creationId="{3F829A04-EF53-8575-426C-E1591E57B56E}"/>
          </ac:spMkLst>
        </pc:spChg>
      </pc:sldChg>
      <pc:sldChg chg="addSp delSp modSp add ord replId">
        <pc:chgData name="Guest User" userId="" providerId="Windows Live" clId="Web-{BCB2E602-B84B-C34C-0C55-3A81F894C246}" dt="2026-01-31T09:07:08.389" v="265" actId="20577"/>
        <pc:sldMkLst>
          <pc:docMk/>
          <pc:sldMk cId="1229365476" sldId="268"/>
        </pc:sldMkLst>
        <pc:spChg chg="add mod">
          <ac:chgData name="Guest User" userId="" providerId="Windows Live" clId="Web-{BCB2E602-B84B-C34C-0C55-3A81F894C246}" dt="2026-01-31T09:07:08.389" v="265" actId="20577"/>
          <ac:spMkLst>
            <pc:docMk/>
            <pc:sldMk cId="1229365476" sldId="268"/>
            <ac:spMk id="2" creationId="{94987FB0-A864-4E30-3E5A-B7A5081E2AA8}"/>
          </ac:spMkLst>
        </pc:spChg>
        <pc:spChg chg="del mod">
          <ac:chgData name="Guest User" userId="" providerId="Windows Live" clId="Web-{BCB2E602-B84B-C34C-0C55-3A81F894C246}" dt="2026-01-31T09:01:14.851" v="172"/>
          <ac:spMkLst>
            <pc:docMk/>
            <pc:sldMk cId="1229365476" sldId="268"/>
            <ac:spMk id="4" creationId="{719D482B-23A7-5653-AAE9-C9D0F353F6CF}"/>
          </ac:spMkLst>
        </pc:spChg>
        <pc:spChg chg="mod">
          <ac:chgData name="Guest User" userId="" providerId="Windows Live" clId="Web-{BCB2E602-B84B-C34C-0C55-3A81F894C246}" dt="2026-01-31T09:02:06.633" v="183" actId="20577"/>
          <ac:spMkLst>
            <pc:docMk/>
            <pc:sldMk cId="1229365476" sldId="268"/>
            <ac:spMk id="5" creationId="{954CFEB5-EAEB-0FA8-5B34-B5D17088E6EB}"/>
          </ac:spMkLst>
        </pc:spChg>
      </pc:sldChg>
      <pc:sldChg chg="addSp delSp modSp add replId">
        <pc:chgData name="Guest User" userId="" providerId="Windows Live" clId="Web-{BCB2E602-B84B-C34C-0C55-3A81F894C246}" dt="2026-01-31T09:07:20.108" v="269" actId="20577"/>
        <pc:sldMkLst>
          <pc:docMk/>
          <pc:sldMk cId="2467809627" sldId="269"/>
        </pc:sldMkLst>
        <pc:spChg chg="del mod">
          <ac:chgData name="Guest User" userId="" providerId="Windows Live" clId="Web-{BCB2E602-B84B-C34C-0C55-3A81F894C246}" dt="2026-01-31T09:02:52.056" v="191"/>
          <ac:spMkLst>
            <pc:docMk/>
            <pc:sldMk cId="2467809627" sldId="269"/>
            <ac:spMk id="2" creationId="{6C28D8C5-B565-767E-332F-BF540C47DFB0}"/>
          </ac:spMkLst>
        </pc:spChg>
        <pc:spChg chg="add mod">
          <ac:chgData name="Guest User" userId="" providerId="Windows Live" clId="Web-{BCB2E602-B84B-C34C-0C55-3A81F894C246}" dt="2026-01-31T09:07:20.108" v="269" actId="20577"/>
          <ac:spMkLst>
            <pc:docMk/>
            <pc:sldMk cId="2467809627" sldId="269"/>
            <ac:spMk id="3" creationId="{84256D3E-8926-65DF-8092-1FFF37509C5E}"/>
          </ac:spMkLst>
        </pc:spChg>
        <pc:spChg chg="mod">
          <ac:chgData name="Guest User" userId="" providerId="Windows Live" clId="Web-{BCB2E602-B84B-C34C-0C55-3A81F894C246}" dt="2026-01-31T09:03:30.104" v="196" actId="20577"/>
          <ac:spMkLst>
            <pc:docMk/>
            <pc:sldMk cId="2467809627" sldId="269"/>
            <ac:spMk id="5" creationId="{5777F1E1-A827-4011-2A0D-398784088F62}"/>
          </ac:spMkLst>
        </pc:spChg>
      </pc:sldChg>
      <pc:sldChg chg="addSp modSp add replId">
        <pc:chgData name="Guest User" userId="" providerId="Windows Live" clId="Web-{BCB2E602-B84B-C34C-0C55-3A81F894C246}" dt="2026-01-31T09:06:59.920" v="260" actId="20577"/>
        <pc:sldMkLst>
          <pc:docMk/>
          <pc:sldMk cId="1072468332" sldId="270"/>
        </pc:sldMkLst>
        <pc:spChg chg="add mod">
          <ac:chgData name="Guest User" userId="" providerId="Windows Live" clId="Web-{BCB2E602-B84B-C34C-0C55-3A81F894C246}" dt="2026-01-31T09:06:59.920" v="260" actId="20577"/>
          <ac:spMkLst>
            <pc:docMk/>
            <pc:sldMk cId="1072468332" sldId="270"/>
            <ac:spMk id="2" creationId="{38F91D4B-8C4E-653E-E200-82C79CC79C27}"/>
          </ac:spMkLst>
        </pc:spChg>
        <pc:spChg chg="mod">
          <ac:chgData name="Guest User" userId="" providerId="Windows Live" clId="Web-{BCB2E602-B84B-C34C-0C55-3A81F894C246}" dt="2026-01-31T09:04:29.980" v="211" actId="20577"/>
          <ac:spMkLst>
            <pc:docMk/>
            <pc:sldMk cId="1072468332" sldId="270"/>
            <ac:spMk id="3" creationId="{5D5E3AFD-99AF-7A88-2921-C94C14785E35}"/>
          </ac:spMkLst>
        </pc:spChg>
        <pc:spChg chg="mod">
          <ac:chgData name="Guest User" userId="" providerId="Windows Live" clId="Web-{BCB2E602-B84B-C34C-0C55-3A81F894C246}" dt="2026-01-31T09:04:52.777" v="217" actId="1076"/>
          <ac:spMkLst>
            <pc:docMk/>
            <pc:sldMk cId="1072468332" sldId="270"/>
            <ac:spMk id="5" creationId="{BD8E785F-0479-211A-31BC-D33E68928C91}"/>
          </ac:spMkLst>
        </pc:spChg>
      </pc:sldChg>
    </pc:docChg>
  </pc:docChgLst>
  <pc:docChgLst>
    <pc:chgData name="Guest User" providerId="Windows Live" clId="Web-{8B5DFBB9-2D3B-8899-D717-2B74797E8A1E}"/>
    <pc:docChg chg="modSld">
      <pc:chgData name="Guest User" userId="" providerId="Windows Live" clId="Web-{8B5DFBB9-2D3B-8899-D717-2B74797E8A1E}" dt="2026-01-31T09:12:59.276" v="0" actId="1076"/>
      <pc:docMkLst>
        <pc:docMk/>
      </pc:docMkLst>
      <pc:sldChg chg="modSp">
        <pc:chgData name="Guest User" userId="" providerId="Windows Live" clId="Web-{8B5DFBB9-2D3B-8899-D717-2B74797E8A1E}" dt="2026-01-31T09:12:59.276" v="0" actId="1076"/>
        <pc:sldMkLst>
          <pc:docMk/>
          <pc:sldMk cId="0" sldId="259"/>
        </pc:sldMkLst>
        <pc:picChg chg="mod">
          <ac:chgData name="Guest User" userId="" providerId="Windows Live" clId="Web-{8B5DFBB9-2D3B-8899-D717-2B74797E8A1E}" dt="2026-01-31T09:12:59.276" v="0" actId="1076"/>
          <ac:picMkLst>
            <pc:docMk/>
            <pc:sldMk cId="0" sldId="259"/>
            <ac:picMk id="3" creationId="{94FD62B1-F7FC-D093-A14E-8CDFDB43DB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220657" y="1668739"/>
            <a:ext cx="4384" cy="718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8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6446993" y="1852900"/>
            <a:ext cx="5394014" cy="1843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2"/>
              </a:lnSpc>
            </a:pPr>
            <a:r>
              <a:rPr lang="en-US" sz="4344" b="1" i="1">
                <a:solidFill>
                  <a:srgbClr val="0C2D36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AI &amp; INNOVATION </a:t>
            </a:r>
          </a:p>
          <a:p>
            <a:pPr algn="l">
              <a:lnSpc>
                <a:spcPts val="4952"/>
              </a:lnSpc>
            </a:pPr>
            <a:r>
              <a:rPr lang="en-US" sz="4344" b="1" i="1">
                <a:solidFill>
                  <a:srgbClr val="0C2D36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SPRINTS</a:t>
            </a:r>
            <a:r>
              <a:rPr lang="en-US" sz="4344" b="1">
                <a:solidFill>
                  <a:srgbClr val="0C2D36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</a:p>
          <a:p>
            <a:pPr algn="l">
              <a:lnSpc>
                <a:spcPts val="4952"/>
              </a:lnSpc>
            </a:pPr>
            <a:endParaRPr lang="en-US" sz="4344" b="1">
              <a:solidFill>
                <a:srgbClr val="0C2D36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63529" y="2345109"/>
            <a:ext cx="2056341" cy="92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12"/>
              </a:lnSpc>
            </a:pPr>
            <a:r>
              <a:rPr lang="en-US" sz="6238" b="1">
                <a:solidFill>
                  <a:srgbClr val="06076A"/>
                </a:solidFill>
                <a:latin typeface="TT Fors Bold"/>
                <a:ea typeface="TT Fors Bold"/>
                <a:cs typeface="TT Fors Bold"/>
                <a:sym typeface="TT Fors Bold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1458" y="3629946"/>
            <a:ext cx="5413006" cy="63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6"/>
              </a:lnSpc>
            </a:pPr>
            <a:r>
              <a:rPr lang="en-US" sz="3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PID: AI-IS 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1458" y="4469820"/>
            <a:ext cx="6458282" cy="63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6"/>
              </a:lnSpc>
            </a:pPr>
            <a:r>
              <a:rPr lang="en-US" sz="3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Mind-</a:t>
            </a:r>
            <a:r>
              <a:rPr lang="en-US" sz="3854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SafeIndia</a:t>
            </a:r>
            <a:r>
              <a:rPr lang="en-US" sz="3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1458" y="5305425"/>
            <a:ext cx="15557342" cy="635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96"/>
              </a:lnSpc>
            </a:pPr>
            <a:r>
              <a:rPr lang="en-US" sz="3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 Sarvesh Patil, Sai </a:t>
            </a:r>
            <a:r>
              <a:rPr lang="en-US" sz="3854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Katkade</a:t>
            </a:r>
            <a:r>
              <a:rPr lang="en-US" sz="3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Avani Atram and Kaivalya Patil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1458" y="6141030"/>
            <a:ext cx="14858372" cy="63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6"/>
              </a:lnSpc>
            </a:pPr>
            <a:r>
              <a:rPr lang="en-US" sz="3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Overview:   </a:t>
            </a:r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FB9517DA-E2A7-3C1B-9E82-00B0F9FE6459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FE686BC9-ED43-16D2-ED3C-7FC2ABFC8014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324600" y="1755568"/>
            <a:ext cx="5934343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Solution Overview</a:t>
            </a:r>
          </a:p>
        </p:txBody>
      </p:sp>
      <p:sp>
        <p:nvSpPr>
          <p:cNvPr id="7" name="Freeform 7"/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F2E1C5C9-1921-7908-B1AD-D7B94A9DF5AF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39148CD3-7556-D0B7-F45C-069C0855F673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93D478-A029-C190-E945-C6A1BFD13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86477"/>
            <a:ext cx="170688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Data Risk: E-waste holds sensitive data; wiping is unsafe/delayed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No Transparency: Users can’t track devices after handover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Hidden Impact: Environmental effects of e-waste are invisible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No Incentives: Few options to reuse, resell, or recycle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AI Platform: Multi-agent system for secure e-waste management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Doorstep Service: Military-grade on-site data wipe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Proof: Cryptographic QR certificate of destruction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Tracking: Real-time technician logistics via </a:t>
            </a:r>
            <a:r>
              <a:rPr lang="en-US" alt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Mapbox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SDK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Smart Decisions: AI resale/recycle estimator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Who Benefits: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Consumers &amp; SMBs: Safe disposal of electronics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Enterprises: Audit-ready compliance &amp; certification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Environment: Eco Impact Dashboard (CO₂ &amp; water saved)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	Circular Economy: Promotes reuse/resale over landfill.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1220" y="2615980"/>
            <a:ext cx="19888200" cy="545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AI Chatbot (Gemini API): Guides users, collects details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Multi-Agent System: Chat, Logistics, Security, Sustainability agents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Live Tracking: 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Mapbox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SDK for technician movement &amp; ETA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On-Site Data Wiping: Military-grade overwrite &amp; verification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Resale Estimator: AI-driven value check for reuse/recycle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QR Certificate: Cryptographic proof of data destruction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Eco Dashboard: CO₂ &amp; water savings displayed </a:t>
            </a:r>
          </a:p>
          <a:p>
            <a:pPr marL="367029" lvl="1">
              <a:lnSpc>
                <a:spcPts val="4759"/>
              </a:lnSpc>
            </a:pP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885557" y="1834291"/>
            <a:ext cx="8135243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Features and workflow</a:t>
            </a:r>
          </a:p>
        </p:txBody>
      </p:sp>
      <p:sp>
        <p:nvSpPr>
          <p:cNvPr id="7" name="Freeform 7"/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85" r="-1567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9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AA3A9-C22A-2EE5-25D8-5D344BAB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D6E909-37B7-A260-8976-EC47F7C98DC8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A8EB53-23E7-C5A4-F346-EACEF4CED3B6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40BFC35-E153-5681-5AA2-FE2D82A2C271}"/>
              </a:ext>
            </a:extLst>
          </p:cNvPr>
          <p:cNvSpPr txBox="1"/>
          <p:nvPr/>
        </p:nvSpPr>
        <p:spPr>
          <a:xfrm>
            <a:off x="228600" y="3029940"/>
            <a:ext cx="25603200" cy="4227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Frontend: React/Flutter + 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Mapbox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SDK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Backend: Node.js/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WebSockets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MongoDB/JSON storage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AI Layer: Gemini API + Agentic RAG for decision-making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Security: Cryptographic hashing, encrypted data at rest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Risk Mitigation: Offline technician mode + verification logs</a:t>
            </a:r>
          </a:p>
          <a:p>
            <a:pPr marL="367029" lvl="1">
              <a:lnSpc>
                <a:spcPts val="4759"/>
              </a:lnSpc>
            </a:pP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F765DC-29B2-B843-2EB6-83972C1F8C83}"/>
              </a:ext>
            </a:extLst>
          </p:cNvPr>
          <p:cNvSpPr txBox="1"/>
          <p:nvPr/>
        </p:nvSpPr>
        <p:spPr>
          <a:xfrm>
            <a:off x="5885557" y="1834291"/>
            <a:ext cx="8135243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Features and workflow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D17122C-1F33-0601-E6F7-36480B1F921D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D18AEE0-797B-8438-D8D0-6718A2A31AF9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EF1FD65-2F58-4273-899A-E0CC954D7982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823AE11-2018-9F34-E0EB-B1C170B3ABDA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2129F34-E619-C020-2A07-A4F482429552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FF0C61B-CC4F-3880-5D05-62BC54A836E5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5527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D2FA0-203A-77D0-3BEE-E0FFA66F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0FD5D9-554F-70A5-6DDC-414F034F9C32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E4D465A-5DEE-69C4-4D34-0046EAC68422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93DFBA-DCAF-55F2-5127-CA552ADECB89}"/>
              </a:ext>
            </a:extLst>
          </p:cNvPr>
          <p:cNvSpPr txBox="1"/>
          <p:nvPr/>
        </p:nvSpPr>
        <p:spPr>
          <a:xfrm>
            <a:off x="228600" y="3029940"/>
            <a:ext cx="25603200" cy="545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	User Input: Chatbot collects pickup/device info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	Evaluation: AI estimates resale/recycle value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	Assignment: Logistics Agent dispatches technician, live tracking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	On-Site Action: Military-grade wipe with progress bar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	Output: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QR certificate of destruction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Eco Impact Dashboard update</a:t>
            </a:r>
          </a:p>
          <a:p>
            <a:pPr marL="367029" lvl="1">
              <a:lnSpc>
                <a:spcPts val="47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Automated user notification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251F92-42D0-1A92-1F65-B3F79CB41185}"/>
              </a:ext>
            </a:extLst>
          </p:cNvPr>
          <p:cNvSpPr txBox="1"/>
          <p:nvPr/>
        </p:nvSpPr>
        <p:spPr>
          <a:xfrm>
            <a:off x="5885557" y="1834291"/>
            <a:ext cx="8135243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Features and workflow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DD0B49F-9D60-7C16-5828-1AF8EE0B1D33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E3F1B9E-4EAC-32DB-527B-C164696F7776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46FFF9D-1E73-8B92-07CB-30741959F303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EC9AB6F-E094-0C1C-E8FB-821AA7202109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8202F98-D66D-BDE9-0B85-FEE3CC9FE576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6850654-AAAA-89D5-B19B-823FBE6E0894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6233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019056" y="1783960"/>
            <a:ext cx="6249888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Architecture</a:t>
            </a:r>
          </a:p>
        </p:txBody>
      </p:sp>
      <p:sp>
        <p:nvSpPr>
          <p:cNvPr id="7" name="Freeform 7"/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624929AB-9DDE-6C21-0676-2D3BAB2F8A94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68DA9225-5ABE-6E6E-3652-52A356B97506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D62B1-F7FC-D093-A14E-8CDFDB43D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029" y="2822790"/>
            <a:ext cx="11422069" cy="6077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D5F75-BA76-65E5-B39A-FACC6AAE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54CFEB5-EAEB-0FA8-5B34-B5D17088E6EB}"/>
              </a:ext>
            </a:extLst>
          </p:cNvPr>
          <p:cNvSpPr txBox="1"/>
          <p:nvPr/>
        </p:nvSpPr>
        <p:spPr>
          <a:xfrm>
            <a:off x="18754" y="2809421"/>
            <a:ext cx="11396833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Integration in this project - AI techniques used </a:t>
            </a:r>
            <a:endParaRPr lang="en-US" sz="3350" b="1">
              <a:ea typeface="Calibri"/>
              <a:cs typeface="Calibri"/>
            </a:endParaRPr>
          </a:p>
          <a:p>
            <a:pPr algn="l">
              <a:lnSpc>
                <a:spcPts val="4759"/>
              </a:lnSpc>
            </a:pPr>
            <a:r>
              <a:rPr lang="en-US" sz="3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lang="en-US" sz="335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8D9BF1F-0145-D411-5796-DCEC1403DFA1}"/>
              </a:ext>
            </a:extLst>
          </p:cNvPr>
          <p:cNvSpPr txBox="1"/>
          <p:nvPr/>
        </p:nvSpPr>
        <p:spPr>
          <a:xfrm>
            <a:off x="6865307" y="1811996"/>
            <a:ext cx="4557385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Integration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7997E0E-B5AC-4718-3E59-AB77D23415C8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E32C65F-680A-24BA-0B05-80473AF42015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B33BA44-526C-06D3-A1CD-8428275179B7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E853599-D2CD-B422-D327-E49C1FABE178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B9349B4-9494-E41E-158B-631289478A17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3519D1E-476A-DE08-28E4-B43D379EA834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C3FF9B71-1C9F-0583-B809-EFE9E6DBC58D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126CE4F2-8130-1E68-9B6B-2A58D49B44C6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87FB0-A864-4E30-3E5A-B7A5081E2AA8}"/>
              </a:ext>
            </a:extLst>
          </p:cNvPr>
          <p:cNvSpPr txBox="1"/>
          <p:nvPr/>
        </p:nvSpPr>
        <p:spPr>
          <a:xfrm>
            <a:off x="905385" y="3639629"/>
            <a:ext cx="17575855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Mind-Safe India integrates AI across decision-making, automation, and secure operations using the following techniques: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Large Language Models (LLMs)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→ Conversational chatbot for user guidance, device classification, and reasoning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Embeddings &amp; Vector Databases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→ Contextual storage of device data, compliance rules, and operational history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Retrieval-Augmented Generation (RAG)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→ Context-aware responses using real operational and regulatory data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Agentic RAG (Multi-Agent AI)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→ Autonomous task execution for logistics assignment, technician routing, and workflow coordination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Model Context Protocol (MCP)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→ Structured and consistent context sharing across AI agents, tools, and APIs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36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009C9-AD5C-E6E6-6A2E-28A6043B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777F1E1-A827-4011-2A0D-398784088F62}"/>
              </a:ext>
            </a:extLst>
          </p:cNvPr>
          <p:cNvSpPr txBox="1"/>
          <p:nvPr/>
        </p:nvSpPr>
        <p:spPr>
          <a:xfrm>
            <a:off x="1945" y="2574098"/>
            <a:ext cx="11396833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7030">
              <a:lnSpc>
                <a:spcPts val="4759"/>
              </a:lnSpc>
              <a:buFont typeface="Arial"/>
              <a:buChar char="•"/>
            </a:pPr>
            <a:r>
              <a:rPr lang="en-US" sz="335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Why AI Is Needed in This Solutio</a:t>
            </a:r>
            <a:r>
              <a:rPr lang="en-US" sz="335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n</a:t>
            </a:r>
            <a:r>
              <a:rPr lang="en-US" sz="3350" b="1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 </a:t>
            </a:r>
            <a:endParaRPr lang="en-US" sz="3350" b="1">
              <a:ea typeface="Calibri"/>
              <a:cs typeface="Calibri"/>
            </a:endParaRPr>
          </a:p>
          <a:p>
            <a:pPr algn="l">
              <a:lnSpc>
                <a:spcPts val="4759"/>
              </a:lnSpc>
            </a:pPr>
            <a:r>
              <a:rPr lang="en-US" sz="3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lang="en-US" sz="335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BB2E92-1567-AF83-EE81-98B9B5309EEE}"/>
              </a:ext>
            </a:extLst>
          </p:cNvPr>
          <p:cNvSpPr txBox="1"/>
          <p:nvPr/>
        </p:nvSpPr>
        <p:spPr>
          <a:xfrm>
            <a:off x="6865307" y="1811996"/>
            <a:ext cx="4557385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Integration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0B9EDEF-7E12-957F-97E5-90F579C5F76A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45DB46A-F7D8-BAC4-30AA-84E7EA50F53D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9662858-1ADD-54FA-3A95-76C04E8201F9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F740EAC-32F3-CF5C-8FC5-634C6B3D79FC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F4716CE-45B3-A614-9D4F-2E2EEA995C73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D88B0BF-08D9-5D1A-2EB8-D1E748372717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C50A4606-E913-2A8B-8FF3-2F33692F2970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9C92F62C-F474-38BA-6D91-290FFE3BCF3A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56D3E-8926-65DF-8092-1FFF37509C5E}"/>
              </a:ext>
            </a:extLst>
          </p:cNvPr>
          <p:cNvSpPr txBox="1"/>
          <p:nvPr/>
        </p:nvSpPr>
        <p:spPr>
          <a:xfrm>
            <a:off x="547087" y="3462335"/>
            <a:ext cx="1786568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AI is essential due to the </a:t>
            </a:r>
            <a:r>
              <a:rPr lang="en-US" sz="2800" b="1">
                <a:ea typeface="+mn-lt"/>
                <a:cs typeface="+mn-lt"/>
              </a:rPr>
              <a:t>complexity, scale, and sensitivity</a:t>
            </a:r>
            <a:r>
              <a:rPr lang="en-US" sz="2800">
                <a:ea typeface="+mn-lt"/>
                <a:cs typeface="+mn-lt"/>
              </a:rPr>
              <a:t> of e-waste and data-security operations:</a:t>
            </a:r>
            <a:endParaRPr lang="en-US" sz="2800">
              <a:ea typeface="Calibri"/>
              <a:cs typeface="Calibri"/>
            </a:endParaRPr>
          </a:p>
          <a:p>
            <a:endParaRPr lang="en-US" sz="2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High risk of </a:t>
            </a:r>
            <a:r>
              <a:rPr lang="en-US" sz="2800" b="1">
                <a:ea typeface="+mn-lt"/>
                <a:cs typeface="+mn-lt"/>
              </a:rPr>
              <a:t>human error</a:t>
            </a:r>
            <a:r>
              <a:rPr lang="en-US" sz="2800">
                <a:ea typeface="+mn-lt"/>
                <a:cs typeface="+mn-lt"/>
              </a:rPr>
              <a:t> in data wiping and certification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Dynamic </a:t>
            </a:r>
            <a:r>
              <a:rPr lang="en-US" sz="2800" b="1">
                <a:ea typeface="+mn-lt"/>
                <a:cs typeface="+mn-lt"/>
              </a:rPr>
              <a:t>logistics and routing</a:t>
            </a:r>
            <a:r>
              <a:rPr lang="en-US" sz="2800">
                <a:ea typeface="+mn-lt"/>
                <a:cs typeface="+mn-lt"/>
              </a:rPr>
              <a:t> for device pickup and technician assignment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Need for </a:t>
            </a:r>
            <a:r>
              <a:rPr lang="en-US" sz="2800" b="1">
                <a:ea typeface="+mn-lt"/>
                <a:cs typeface="+mn-lt"/>
              </a:rPr>
              <a:t>real-time decision-making</a:t>
            </a:r>
            <a:r>
              <a:rPr lang="en-US" sz="2800">
                <a:ea typeface="+mn-lt"/>
                <a:cs typeface="+mn-lt"/>
              </a:rPr>
              <a:t> across multiple workflows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Handling large volumes of </a:t>
            </a:r>
            <a:r>
              <a:rPr lang="en-US" sz="2800" b="1">
                <a:ea typeface="+mn-lt"/>
                <a:cs typeface="+mn-lt"/>
              </a:rPr>
              <a:t>contextual data</a:t>
            </a:r>
            <a:r>
              <a:rPr lang="en-US" sz="2800">
                <a:ea typeface="+mn-lt"/>
                <a:cs typeface="+mn-lt"/>
              </a:rPr>
              <a:t> (devices, locations, compliance)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Ensuring </a:t>
            </a:r>
            <a:r>
              <a:rPr lang="en-US" sz="2800" b="1">
                <a:ea typeface="+mn-lt"/>
                <a:cs typeface="+mn-lt"/>
              </a:rPr>
              <a:t>secure, auditable, and scalable operations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 b="1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Without AI, the system would be manual, error-prone, and non-scalable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80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051C7-1B6E-F98F-4728-6E65F1B3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D8E785F-0479-211A-31BC-D33E68928C91}"/>
              </a:ext>
            </a:extLst>
          </p:cNvPr>
          <p:cNvSpPr txBox="1"/>
          <p:nvPr/>
        </p:nvSpPr>
        <p:spPr>
          <a:xfrm>
            <a:off x="-149334" y="2574097"/>
            <a:ext cx="14371994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7030">
              <a:lnSpc>
                <a:spcPts val="4759"/>
              </a:lnSpc>
              <a:buFont typeface="Arial"/>
              <a:buChar char="•"/>
            </a:pPr>
            <a:r>
              <a:rPr lang="en-US" sz="3350" b="1">
                <a:ea typeface="+mn-lt"/>
                <a:cs typeface="+mn-lt"/>
              </a:rPr>
              <a:t>How AI Improves Accuracy, Automation, and Decision-Making</a:t>
            </a:r>
            <a:endParaRPr lang="en-US" sz="3350" b="1">
              <a:ea typeface="Calibri"/>
              <a:cs typeface="Calibri"/>
            </a:endParaRPr>
          </a:p>
          <a:p>
            <a:pPr algn="l">
              <a:lnSpc>
                <a:spcPts val="4759"/>
              </a:lnSpc>
            </a:pPr>
            <a:r>
              <a:rPr lang="en-US" sz="3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lang="en-US" sz="335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8148B6F-0AA6-1211-3A61-2EAF57DE9300}"/>
              </a:ext>
            </a:extLst>
          </p:cNvPr>
          <p:cNvSpPr txBox="1"/>
          <p:nvPr/>
        </p:nvSpPr>
        <p:spPr>
          <a:xfrm>
            <a:off x="6865307" y="1811996"/>
            <a:ext cx="4557385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Integration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0FC6D1B-9642-FE49-1884-B55CEDE92124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39DD973-C6F7-9C36-7447-34E095B31690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5E62A98-EB20-80C9-A339-8EB54D9CB810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D743C66-332F-BC1A-36D9-1CF39C295E60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3C6452E-2E25-0575-6DB1-4C2214DDD752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2752EDC-3887-8242-CA9E-EA1C48900654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5842302D-525B-2A71-B098-91942ADB11B2}"/>
              </a:ext>
            </a:extLst>
          </p:cNvPr>
          <p:cNvSpPr/>
          <p:nvPr/>
        </p:nvSpPr>
        <p:spPr>
          <a:xfrm>
            <a:off x="-601837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9D879F54-EC69-2794-A8B7-22EFC29E92E4}"/>
              </a:ext>
            </a:extLst>
          </p:cNvPr>
          <p:cNvSpPr/>
          <p:nvPr/>
        </p:nvSpPr>
        <p:spPr>
          <a:xfrm>
            <a:off x="8271434" y="9691443"/>
            <a:ext cx="11599333" cy="87178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E3AFD-99AF-7A88-2921-C94C14785E35}"/>
              </a:ext>
            </a:extLst>
          </p:cNvPr>
          <p:cNvSpPr txBox="1"/>
          <p:nvPr/>
        </p:nvSpPr>
        <p:spPr>
          <a:xfrm>
            <a:off x="547087" y="3462335"/>
            <a:ext cx="178656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91D4B-8C4E-653E-E200-82C79CC79C27}"/>
              </a:ext>
            </a:extLst>
          </p:cNvPr>
          <p:cNvSpPr txBox="1"/>
          <p:nvPr/>
        </p:nvSpPr>
        <p:spPr>
          <a:xfrm>
            <a:off x="555056" y="3459862"/>
            <a:ext cx="17244626" cy="64017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Accuracy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RAG ensures responses are based on verified operational data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AI validates device status and data-wipe completion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Cryptographically signed QR certificates prevent tampering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Automation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Agentic AI automatically assigns logistics and technicians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Event-driven backend with </a:t>
            </a:r>
            <a:r>
              <a:rPr lang="en-US" sz="2800" err="1">
                <a:ea typeface="+mn-lt"/>
                <a:cs typeface="+mn-lt"/>
              </a:rPr>
              <a:t>WebSockets</a:t>
            </a:r>
            <a:r>
              <a:rPr lang="en-US" sz="2800">
                <a:ea typeface="+mn-lt"/>
                <a:cs typeface="+mn-lt"/>
              </a:rPr>
              <a:t> enables real-time updates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Automated sustainability and carbon-impact calculation</a:t>
            </a: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  <a:p>
            <a:r>
              <a:rPr lang="en-US" sz="2800" b="1">
                <a:ea typeface="+mn-lt"/>
                <a:cs typeface="+mn-lt"/>
              </a:rPr>
              <a:t>Decision-Making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AI selects optimal disposal, resale, or recycling paths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Context-aware reasoning using MCP across all system components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Live dashboards enable informed user and enterprise decisions</a:t>
            </a:r>
            <a:endParaRPr lang="en-US" sz="2800"/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46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1109" y="2572923"/>
            <a:ext cx="8479929" cy="574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development/operational cost</a:t>
            </a:r>
            <a:endParaRPr lang="en-US" sz="3350" b="1"/>
          </a:p>
        </p:txBody>
      </p:sp>
      <p:sp>
        <p:nvSpPr>
          <p:cNvPr id="6" name="TextBox 6"/>
          <p:cNvSpPr txBox="1"/>
          <p:nvPr/>
        </p:nvSpPr>
        <p:spPr>
          <a:xfrm>
            <a:off x="5750235" y="1593820"/>
            <a:ext cx="6182409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Analysis</a:t>
            </a:r>
          </a:p>
        </p:txBody>
      </p:sp>
      <p:sp>
        <p:nvSpPr>
          <p:cNvPr id="7" name="Freeform 7"/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899CCA6E-0516-C37C-6140-2F6A721C5BEA}"/>
              </a:ext>
            </a:extLst>
          </p:cNvPr>
          <p:cNvSpPr/>
          <p:nvPr/>
        </p:nvSpPr>
        <p:spPr>
          <a:xfrm>
            <a:off x="-601837" y="9977193"/>
            <a:ext cx="11599333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D353DA04-807E-4514-B789-805370A85F9B}"/>
              </a:ext>
            </a:extLst>
          </p:cNvPr>
          <p:cNvSpPr/>
          <p:nvPr/>
        </p:nvSpPr>
        <p:spPr>
          <a:xfrm>
            <a:off x="8254626" y="9977193"/>
            <a:ext cx="11616141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ACE5E-7118-F3DA-97B3-80511C456638}"/>
              </a:ext>
            </a:extLst>
          </p:cNvPr>
          <p:cNvSpPr txBox="1"/>
          <p:nvPr/>
        </p:nvSpPr>
        <p:spPr>
          <a:xfrm>
            <a:off x="688655" y="3370504"/>
            <a:ext cx="21808475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Annual Cost Structure (Pilot Scale):</a:t>
            </a:r>
            <a:endParaRPr lang="en-US" sz="2800">
              <a:ea typeface="Calibri"/>
              <a:cs typeface="Calibri"/>
            </a:endParaRPr>
          </a:p>
          <a:p>
            <a:endParaRPr lang="en-US" sz="28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Technology &amp; Infrastructure:</a:t>
            </a:r>
            <a:r>
              <a:rPr lang="en-US" sz="2800">
                <a:ea typeface="+mn-lt"/>
                <a:cs typeface="+mn-lt"/>
              </a:rPr>
              <a:t> ₹7–8 lakh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(AI models, APIs, servers, data security systems, platform maintenance) 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Operations &amp; Manpower:</a:t>
            </a:r>
            <a:r>
              <a:rPr lang="en-US" sz="2800">
                <a:ea typeface="+mn-lt"/>
                <a:cs typeface="+mn-lt"/>
              </a:rPr>
              <a:t> ₹8–9 lakh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(Technicians, logistics, device handling, compliance, support)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endParaRPr lang="en-US" sz="2800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🔻 Total Estimated Annual Cost: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₹16–17 lakh / year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423ED-9145-DC72-73D2-A525DEE8C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F3C9A31-B299-8793-F783-EA0D17DD275A}"/>
              </a:ext>
            </a:extLst>
          </p:cNvPr>
          <p:cNvSpPr txBox="1"/>
          <p:nvPr/>
        </p:nvSpPr>
        <p:spPr>
          <a:xfrm>
            <a:off x="6052794" y="1308070"/>
            <a:ext cx="6182409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Analysis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9705419-1906-1670-B995-39111B134067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4D8BEE7-C82C-4A9B-7FC5-E9AF912A5CAC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08327C9-DFCF-2464-9E80-BDE127EE439E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22977EA-7313-7B1B-14BC-99E2D9EB6097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1DEA204-FC96-361E-0CBB-FA87F9749BAE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6421389-EF7E-A834-CC43-448A9427135A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EE8B5EE5-63DB-1B9B-DC08-804A9DDDBB1E}"/>
              </a:ext>
            </a:extLst>
          </p:cNvPr>
          <p:cNvSpPr/>
          <p:nvPr/>
        </p:nvSpPr>
        <p:spPr>
          <a:xfrm>
            <a:off x="-601837" y="9977193"/>
            <a:ext cx="11599333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096A203D-C4A0-FCE6-A338-DF265228CEBC}"/>
              </a:ext>
            </a:extLst>
          </p:cNvPr>
          <p:cNvSpPr/>
          <p:nvPr/>
        </p:nvSpPr>
        <p:spPr>
          <a:xfrm>
            <a:off x="8254626" y="9977193"/>
            <a:ext cx="11616141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CFB02-AF08-9031-D85C-B0ECE134D09D}"/>
              </a:ext>
            </a:extLst>
          </p:cNvPr>
          <p:cNvSpPr txBox="1"/>
          <p:nvPr/>
        </p:nvSpPr>
        <p:spPr>
          <a:xfrm>
            <a:off x="557713" y="2075396"/>
            <a:ext cx="7059324" cy="607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350" b="1">
                <a:ea typeface="+mn-lt"/>
                <a:cs typeface="+mn-lt"/>
              </a:rPr>
              <a:t>Revenue Model</a:t>
            </a:r>
            <a:endParaRPr lang="en-US" sz="3350" b="1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F1AA57-CADB-0C76-6589-E30C10DA1BB5}"/>
              </a:ext>
            </a:extLst>
          </p:cNvPr>
          <p:cNvSpPr txBox="1"/>
          <p:nvPr/>
        </p:nvSpPr>
        <p:spPr>
          <a:xfrm>
            <a:off x="909278" y="2969284"/>
            <a:ext cx="17112769" cy="6832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Mind-Safe India follows a </a:t>
            </a:r>
            <a:r>
              <a:rPr lang="en-US" sz="2800" b="1">
                <a:ea typeface="+mn-lt"/>
                <a:cs typeface="+mn-lt"/>
              </a:rPr>
              <a:t>B2B + B2C + Service-based revenue model</a:t>
            </a:r>
            <a:r>
              <a:rPr lang="en-US" sz="2800">
                <a:ea typeface="+mn-lt"/>
                <a:cs typeface="+mn-lt"/>
              </a:rPr>
              <a:t>, monetizing data security, device reuse, and environmental impact.</a:t>
            </a:r>
            <a:endParaRPr lang="en-US" sz="2800">
              <a:ea typeface="Calibri"/>
              <a:cs typeface="Calibri"/>
            </a:endParaRPr>
          </a:p>
          <a:p>
            <a:endParaRPr lang="en-US" sz="2800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Revenue Streams: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B2C Revenue:</a:t>
            </a:r>
            <a:r>
              <a:rPr lang="en-US" sz="2800">
                <a:ea typeface="+mn-lt"/>
                <a:cs typeface="+mn-lt"/>
              </a:rPr>
              <a:t> ₹24–25 lakh / year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(Data wiping, optional backups, resale commissions, refurbished sales, carbon credits)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B2B Revenue:</a:t>
            </a:r>
            <a:r>
              <a:rPr lang="en-US" sz="2800">
                <a:ea typeface="+mn-lt"/>
                <a:cs typeface="+mn-lt"/>
              </a:rPr>
              <a:t> ₹32–35 lakh / year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(Bulk data destruction, enterprise backups, AMC/SLA contracts, material resale, carbon credits)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Service-Based Revenue (Platform as a Service):</a:t>
            </a:r>
            <a:r>
              <a:rPr lang="en-US" sz="2800">
                <a:ea typeface="+mn-lt"/>
                <a:cs typeface="+mn-lt"/>
              </a:rPr>
              <a:t> ₹12–15 lakh / year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(Data destruction as a service, ESG &amp; compliance reports, white-label solutions)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Carbon Credit Revenue:</a:t>
            </a:r>
            <a:r>
              <a:rPr lang="en-US" sz="2800">
                <a:ea typeface="+mn-lt"/>
                <a:cs typeface="+mn-lt"/>
              </a:rPr>
              <a:t> ₹6–8 lakh / year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(Voluntary credits via verified environmental impact)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💰 Total Annual Revenue: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₹74–83 lakh / annum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226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8586C-1291-DCF2-F5FD-78D91DB8D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713AEE2-A956-9D8B-2B0C-45A83AB6FF59}"/>
              </a:ext>
            </a:extLst>
          </p:cNvPr>
          <p:cNvSpPr txBox="1"/>
          <p:nvPr/>
        </p:nvSpPr>
        <p:spPr>
          <a:xfrm>
            <a:off x="6052794" y="1308070"/>
            <a:ext cx="6182409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Analysis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0997D63-9E26-27CB-3B6D-1F58D65DF903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693F64-FC2D-DA9E-9B90-4C53C628F398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795D8B6-57AE-9F6F-3C74-2F0116FC80A0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2CA766E-1EF9-3B81-3F3A-E8E070E04D6B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401E57E-5A32-E26E-1416-3CB97F21B4F3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E74930F-F3FA-5B16-2BBD-B41180AA525C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668436F9-7E9E-C5A7-FEE7-E63D38330E40}"/>
              </a:ext>
            </a:extLst>
          </p:cNvPr>
          <p:cNvSpPr/>
          <p:nvPr/>
        </p:nvSpPr>
        <p:spPr>
          <a:xfrm>
            <a:off x="-601837" y="9977193"/>
            <a:ext cx="11599333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170B9BFB-7593-4BCB-1EEE-8CD96240C771}"/>
              </a:ext>
            </a:extLst>
          </p:cNvPr>
          <p:cNvSpPr/>
          <p:nvPr/>
        </p:nvSpPr>
        <p:spPr>
          <a:xfrm>
            <a:off x="8254626" y="9977193"/>
            <a:ext cx="11616141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5303F1-2276-308F-69BA-A07D71ACCD38}"/>
              </a:ext>
            </a:extLst>
          </p:cNvPr>
          <p:cNvSpPr txBox="1"/>
          <p:nvPr/>
        </p:nvSpPr>
        <p:spPr>
          <a:xfrm>
            <a:off x="406434" y="2075396"/>
            <a:ext cx="7059324" cy="607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350" b="1">
                <a:ea typeface="+mn-lt"/>
                <a:cs typeface="+mn-lt"/>
              </a:rPr>
              <a:t>Target Users / Market</a:t>
            </a:r>
            <a:endParaRPr lang="en-US" sz="3350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C92891-DA9E-C043-686D-7D60352A8A96}"/>
              </a:ext>
            </a:extLst>
          </p:cNvPr>
          <p:cNvSpPr txBox="1"/>
          <p:nvPr/>
        </p:nvSpPr>
        <p:spPr>
          <a:xfrm>
            <a:off x="734641" y="2880210"/>
            <a:ext cx="16809887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B2C (Individual Users):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Households disposing old phones, laptops, storage devices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Users seeking secure data deletion &amp; eco-friendly recycling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Approx. </a:t>
            </a:r>
            <a:r>
              <a:rPr lang="en-US" sz="2800" b="1">
                <a:ea typeface="+mn-lt"/>
                <a:cs typeface="+mn-lt"/>
              </a:rPr>
              <a:t>3,600 devices/year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 b="1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B2B (Organizations):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 companies &amp; startups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Banks, </a:t>
            </a:r>
            <a:r>
              <a:rPr lang="en-US" sz="2800" err="1">
                <a:ea typeface="+mn-lt"/>
                <a:cs typeface="+mn-lt"/>
              </a:rPr>
              <a:t>fintechs</a:t>
            </a:r>
            <a:r>
              <a:rPr lang="en-US" sz="2800">
                <a:ea typeface="+mn-lt"/>
                <a:cs typeface="+mn-lt"/>
              </a:rPr>
              <a:t>, hospitals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Corporates upgrading hardware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Government &amp; institutions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Approx. </a:t>
            </a:r>
            <a:r>
              <a:rPr lang="en-US" sz="2800" b="1">
                <a:ea typeface="+mn-lt"/>
                <a:cs typeface="+mn-lt"/>
              </a:rPr>
              <a:t>2,400 devices/year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 b="1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Market Positioning: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 A trusted data-security + sustainability</a:t>
            </a:r>
            <a:r>
              <a:rPr lang="en-US" sz="2800">
                <a:ea typeface="+mn-lt"/>
                <a:cs typeface="+mn-lt"/>
              </a:rPr>
              <a:t> platform addressing India’s growing e-waste and data-privacy gap.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4610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1A319-0311-84DF-ADC1-E7A4756A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77A0FBD-FEE1-A34F-4346-140B3B12261D}"/>
              </a:ext>
            </a:extLst>
          </p:cNvPr>
          <p:cNvSpPr txBox="1"/>
          <p:nvPr/>
        </p:nvSpPr>
        <p:spPr>
          <a:xfrm>
            <a:off x="6052794" y="1308070"/>
            <a:ext cx="6182409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9"/>
              </a:lnSpc>
            </a:pPr>
            <a:r>
              <a:rPr lang="en-US" sz="4578" b="1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Analysis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360EAEC-8412-CB9A-895D-326D5E816A84}"/>
              </a:ext>
            </a:extLst>
          </p:cNvPr>
          <p:cNvSpPr/>
          <p:nvPr/>
        </p:nvSpPr>
        <p:spPr>
          <a:xfrm>
            <a:off x="3902898" y="270491"/>
            <a:ext cx="1302514" cy="871782"/>
          </a:xfrm>
          <a:custGeom>
            <a:avLst/>
            <a:gdLst/>
            <a:ahLst/>
            <a:cxnLst/>
            <a:rect l="l" t="t" r="r" b="b"/>
            <a:pathLst>
              <a:path w="1302514" h="871782">
                <a:moveTo>
                  <a:pt x="0" y="0"/>
                </a:moveTo>
                <a:lnTo>
                  <a:pt x="1302514" y="0"/>
                </a:lnTo>
                <a:lnTo>
                  <a:pt x="1302514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r="-15675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FE07980-395D-54D9-1DDD-955A23647631}"/>
              </a:ext>
            </a:extLst>
          </p:cNvPr>
          <p:cNvSpPr/>
          <p:nvPr/>
        </p:nvSpPr>
        <p:spPr>
          <a:xfrm>
            <a:off x="9472397" y="209384"/>
            <a:ext cx="1705846" cy="1078355"/>
          </a:xfrm>
          <a:custGeom>
            <a:avLst/>
            <a:gdLst/>
            <a:ahLst/>
            <a:cxnLst/>
            <a:rect l="l" t="t" r="r" b="b"/>
            <a:pathLst>
              <a:path w="1705846" h="1078355">
                <a:moveTo>
                  <a:pt x="0" y="0"/>
                </a:moveTo>
                <a:lnTo>
                  <a:pt x="1705846" y="0"/>
                </a:lnTo>
                <a:lnTo>
                  <a:pt x="1705846" y="1078355"/>
                </a:lnTo>
                <a:lnTo>
                  <a:pt x="0" y="107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0DA5269-0996-532E-CE32-0D807F87536D}"/>
              </a:ext>
            </a:extLst>
          </p:cNvPr>
          <p:cNvSpPr/>
          <p:nvPr/>
        </p:nvSpPr>
        <p:spPr>
          <a:xfrm>
            <a:off x="5743198" y="258241"/>
            <a:ext cx="1729048" cy="896282"/>
          </a:xfrm>
          <a:custGeom>
            <a:avLst/>
            <a:gdLst/>
            <a:ahLst/>
            <a:cxnLst/>
            <a:rect l="l" t="t" r="r" b="b"/>
            <a:pathLst>
              <a:path w="1729048" h="896282">
                <a:moveTo>
                  <a:pt x="0" y="0"/>
                </a:moveTo>
                <a:lnTo>
                  <a:pt x="1729048" y="0"/>
                </a:lnTo>
                <a:lnTo>
                  <a:pt x="1729048" y="896283"/>
                </a:lnTo>
                <a:lnTo>
                  <a:pt x="0" y="89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F2E8733-0E13-12B5-C5C7-AF229D9E64CF}"/>
              </a:ext>
            </a:extLst>
          </p:cNvPr>
          <p:cNvSpPr/>
          <p:nvPr/>
        </p:nvSpPr>
        <p:spPr>
          <a:xfrm>
            <a:off x="8201336" y="127320"/>
            <a:ext cx="678860" cy="1087139"/>
          </a:xfrm>
          <a:custGeom>
            <a:avLst/>
            <a:gdLst/>
            <a:ahLst/>
            <a:cxnLst/>
            <a:rect l="l" t="t" r="r" b="b"/>
            <a:pathLst>
              <a:path w="678860" h="1087139">
                <a:moveTo>
                  <a:pt x="0" y="0"/>
                </a:moveTo>
                <a:lnTo>
                  <a:pt x="678860" y="0"/>
                </a:lnTo>
                <a:lnTo>
                  <a:pt x="678860" y="1087138"/>
                </a:lnTo>
                <a:lnTo>
                  <a:pt x="0" y="108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8"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A582CBA-DBFA-DA0F-D5D8-2D007F672B1D}"/>
              </a:ext>
            </a:extLst>
          </p:cNvPr>
          <p:cNvSpPr/>
          <p:nvPr/>
        </p:nvSpPr>
        <p:spPr>
          <a:xfrm>
            <a:off x="13513320" y="270491"/>
            <a:ext cx="871782" cy="871782"/>
          </a:xfrm>
          <a:custGeom>
            <a:avLst/>
            <a:gdLst/>
            <a:ahLst/>
            <a:cxnLst/>
            <a:rect l="l" t="t" r="r" b="b"/>
            <a:pathLst>
              <a:path w="871782" h="871782">
                <a:moveTo>
                  <a:pt x="0" y="0"/>
                </a:moveTo>
                <a:lnTo>
                  <a:pt x="871782" y="0"/>
                </a:lnTo>
                <a:lnTo>
                  <a:pt x="871782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4B21BCA-68F0-B5F8-ABF4-6D3BBE735DDB}"/>
              </a:ext>
            </a:extLst>
          </p:cNvPr>
          <p:cNvSpPr/>
          <p:nvPr/>
        </p:nvSpPr>
        <p:spPr>
          <a:xfrm>
            <a:off x="11652890" y="270491"/>
            <a:ext cx="889243" cy="871782"/>
          </a:xfrm>
          <a:custGeom>
            <a:avLst/>
            <a:gdLst/>
            <a:ahLst/>
            <a:cxnLst/>
            <a:rect l="l" t="t" r="r" b="b"/>
            <a:pathLst>
              <a:path w="889243" h="871782">
                <a:moveTo>
                  <a:pt x="0" y="0"/>
                </a:moveTo>
                <a:lnTo>
                  <a:pt x="889243" y="0"/>
                </a:lnTo>
                <a:lnTo>
                  <a:pt x="889243" y="871783"/>
                </a:lnTo>
                <a:lnTo>
                  <a:pt x="0" y="87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34A15D7E-5F26-9FEA-C4E6-4003F8DEF778}"/>
              </a:ext>
            </a:extLst>
          </p:cNvPr>
          <p:cNvSpPr/>
          <p:nvPr/>
        </p:nvSpPr>
        <p:spPr>
          <a:xfrm>
            <a:off x="-601837" y="9977193"/>
            <a:ext cx="11599333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4" y="0"/>
                </a:lnTo>
                <a:lnTo>
                  <a:pt x="11599334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4FD3A63C-BC55-42B9-9AA5-BF79C688E50A}"/>
              </a:ext>
            </a:extLst>
          </p:cNvPr>
          <p:cNvSpPr/>
          <p:nvPr/>
        </p:nvSpPr>
        <p:spPr>
          <a:xfrm>
            <a:off x="8254626" y="9977193"/>
            <a:ext cx="11616141" cy="586032"/>
          </a:xfrm>
          <a:custGeom>
            <a:avLst/>
            <a:gdLst/>
            <a:ahLst/>
            <a:cxnLst/>
            <a:rect l="l" t="t" r="r" b="b"/>
            <a:pathLst>
              <a:path w="11599333" h="1304925">
                <a:moveTo>
                  <a:pt x="0" y="0"/>
                </a:moveTo>
                <a:lnTo>
                  <a:pt x="11599333" y="0"/>
                </a:lnTo>
                <a:lnTo>
                  <a:pt x="11599333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829A04-EF53-8575-426C-E1591E57B56E}"/>
              </a:ext>
            </a:extLst>
          </p:cNvPr>
          <p:cNvSpPr txBox="1"/>
          <p:nvPr/>
        </p:nvSpPr>
        <p:spPr>
          <a:xfrm>
            <a:off x="204728" y="2075396"/>
            <a:ext cx="10605985" cy="607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350" b="1">
                <a:ea typeface="+mn-lt"/>
                <a:cs typeface="+mn-lt"/>
              </a:rPr>
              <a:t>Profitability &amp; Sustainability Approach</a:t>
            </a:r>
            <a:endParaRPr lang="en-US" sz="3350" b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BC6AB-B69B-9487-8173-C59A9459B227}"/>
              </a:ext>
            </a:extLst>
          </p:cNvPr>
          <p:cNvSpPr txBox="1"/>
          <p:nvPr/>
        </p:nvSpPr>
        <p:spPr>
          <a:xfrm>
            <a:off x="677847" y="3016100"/>
            <a:ext cx="21630674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Financial Profitability: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High-margin service-based model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Low fixed costs with scalable operations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Net Profit (before tax): ₹58–65 lakh / year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Strong unit economics even at pilot scale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Sustainability &amp; Long-Term Growth: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Promotes reuse and extended device lifecycle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Prevents illegal dumping and data breaches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Generates carbon credits through measurable impact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Aligns with ESG goals for enterprises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Scalable across cities with minimal cost increase</a:t>
            </a:r>
            <a:endParaRPr lang="en-US" sz="2800"/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464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White and Navy Playful Marketing Presentation</dc:title>
  <dc:creator>Tejas Badgujar</dc:creator>
  <cp:revision>1</cp:revision>
  <dcterms:created xsi:type="dcterms:W3CDTF">2006-08-16T00:00:00Z</dcterms:created>
  <dcterms:modified xsi:type="dcterms:W3CDTF">2026-01-31T09:13:01Z</dcterms:modified>
  <dc:identifier>DAG_6SSiYY4</dc:identifier>
</cp:coreProperties>
</file>